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742D-2B2E-2A9C-4FED-35A6FF432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6F6DC-3E0E-2F67-C7A2-B842100F3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F216D-185E-9373-32C2-1DBA89BA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3E802-09D2-6B1A-FCAC-493D199D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661CE-671E-99B1-5A3F-2CB250F9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82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EBEDA-F3D4-F7C7-7C06-6444887B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4ADBF-CB15-E6D2-A4C8-22331944F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344B-363F-7A79-9F14-3CABDE6E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A704B-4412-AE0A-B562-5DCDC793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89EBB-DA2B-E0D6-34FC-BE243E8F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87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86EF-35C6-92C0-D910-9AA05ED8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29E7A-5033-6A35-F5AC-6ABACEBCD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24D5C-15B6-4743-5F44-6A060B44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B0E3-BD9D-619E-8B45-631435FC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274A7-A77D-A458-9CF2-5F99ACB5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708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D5F6-35B9-2947-7042-637F638F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71B9-A186-5DFB-CA51-B9A1BAA9F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FD1DF-6CB5-2EFC-F0A4-5D24AD937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B244D-2308-698D-EFE1-63A6C689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40AB9-3DA6-1069-5DD0-9C78FBA6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CD8B3-9CDD-8BD7-913D-AAA898E7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78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AF91-06A8-4B61-2488-41ACFF74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475C2-4150-8A60-DBF4-32C377C4F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53181-139D-D694-43C3-2F14A034E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CB608-BA16-5A59-A090-D86438796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C0FB52-EB7B-C5E4-D1AF-4FDC778F8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5FD643-BFA1-A6ED-70A6-0E30C528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77C71-A0E6-9424-7F16-9D5F10328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D04471-25D7-9590-AA6F-16CE50C7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940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5E08-41FF-958B-89DD-2A57B48B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31A67-1557-5660-55D3-DC5B19E0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656D4-1B8F-AA8B-6FB0-EFA35F2B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B7409-E01B-88BC-91C3-93C8B68D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65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58C49-EB2F-35DD-1A74-823296A30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D4E0B-98FE-CA86-DD2C-C5193B42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2039D-8BE9-4C69-A175-EDFD125F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3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6D4A-8A03-2E3D-241A-DDD17CEB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D726E-06C1-8B5C-22EF-373BD15B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71327-7CD7-CC4C-FE48-568181B7E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D2324-9E82-472B-3736-AFA69738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C3806-DB92-2821-94B7-12331E9F5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927BB-DD32-154E-E5FB-AC695AC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459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D495-8172-D02E-121C-9BECA050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A1649-1DB4-3DF8-FCBC-7CBCCA35F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91075-38BF-D416-0626-635DBE9D5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DC36C-5267-EAD5-EA0E-3DED2BEA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78DA1-5FC8-454F-453F-7D54DC7C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74CDE-7069-ED82-7AC2-44A7E8A4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89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8E9B-102D-3B0D-F19D-1130FF8B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68E60-32AF-D237-616B-282536772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E90C9-738C-F382-036C-46FA66E0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7C1CA-9A62-181B-517A-B3A32DC8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248CB-48F2-224C-FE61-1C73F8DA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77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B8A211-3D4A-8A92-C0B8-2657F384B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AE638-BBD6-212B-9BE5-7E4BED8F9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D9411-CEEF-DA16-3EFD-277966A4A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0D9E6-F05E-5867-9979-006FAC26A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0890A-425E-27C6-98DD-11E17CB4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344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213D0-9205-2BE2-A6FC-75151B35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4A71E-1F88-1843-A03F-42CD64607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4FFEC-2F20-38B6-A497-C6354284D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437E6-CDDB-4FA1-A605-21D1FCBB7A6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C9E0A-6F70-A2F7-3666-23B916C09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0CFE2-51F2-4A47-FB20-A575A22C8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3BFD4-CAD4-444C-A579-BFCE862E1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80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E0B3-3DB3-7584-7E35-B0C1F31B0F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Classification of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A8EA1-9F0E-8AA9-9724-D4CDF94545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Data structures</a:t>
            </a:r>
            <a:r>
              <a:rPr lang="en-IN" dirty="0"/>
              <a:t> can be classified based on how data is organized and related.</a:t>
            </a:r>
          </a:p>
        </p:txBody>
      </p:sp>
    </p:spTree>
    <p:extLst>
      <p:ext uri="{BB962C8B-B14F-4D97-AF65-F5344CB8AC3E}">
        <p14:creationId xmlns:p14="http://schemas.microsoft.com/office/powerpoint/2010/main" val="1750284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3B736-CF18-2899-5B13-7E8F9AA7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Primitive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D71E5-D3DF-D94C-5D29-802613A78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These are basic data types provided by programming languages.</a:t>
            </a:r>
          </a:p>
          <a:p>
            <a:r>
              <a:rPr lang="en-IN" b="1" dirty="0"/>
              <a:t>Examples:</a:t>
            </a:r>
            <a:endParaRPr lang="en-IN" dirty="0"/>
          </a:p>
          <a:p>
            <a:pPr lvl="1"/>
            <a:r>
              <a:rPr lang="en-IN" dirty="0"/>
              <a:t>Integer </a:t>
            </a:r>
          </a:p>
          <a:p>
            <a:pPr lvl="1"/>
            <a:r>
              <a:rPr lang="en-IN" dirty="0"/>
              <a:t>Float </a:t>
            </a:r>
          </a:p>
          <a:p>
            <a:pPr lvl="1"/>
            <a:r>
              <a:rPr lang="en-IN" dirty="0"/>
              <a:t>Character </a:t>
            </a:r>
          </a:p>
          <a:p>
            <a:pPr lvl="1"/>
            <a:r>
              <a:rPr lang="en-IN" dirty="0"/>
              <a:t>Boolean </a:t>
            </a:r>
          </a:p>
          <a:p>
            <a:pPr lvl="1"/>
            <a:r>
              <a:rPr lang="en-IN" dirty="0"/>
              <a:t>Pointer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14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B170-16FF-D751-589D-71444D6E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Non-Primitive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7B189-02CA-3990-8F15-EFD3ADA6B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Linear Data Structures</a:t>
            </a:r>
          </a:p>
          <a:p>
            <a:r>
              <a:rPr lang="en-IN" dirty="0"/>
              <a:t>Non-Linear Data Structures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767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A4E01-DA75-FD8A-FEAC-26A0DDDA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DBE9-D110-71DC-01F7-3CAA3832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EA354-5301-AB43-DF67-5EBBEA566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Elements are arranged </a:t>
            </a:r>
            <a:r>
              <a:rPr lang="en-IN" b="1" dirty="0"/>
              <a:t>sequentially</a:t>
            </a:r>
            <a:r>
              <a:rPr lang="en-IN" dirty="0"/>
              <a:t>.</a:t>
            </a:r>
          </a:p>
          <a:p>
            <a:r>
              <a:rPr lang="en-IN" b="1" dirty="0"/>
              <a:t>Examples:</a:t>
            </a:r>
            <a:endParaRPr lang="en-IN" dirty="0"/>
          </a:p>
          <a:p>
            <a:pPr lvl="1"/>
            <a:r>
              <a:rPr lang="en-IN" dirty="0"/>
              <a:t>Array </a:t>
            </a:r>
          </a:p>
          <a:p>
            <a:pPr lvl="1"/>
            <a:r>
              <a:rPr lang="en-IN" dirty="0"/>
              <a:t>Linked List </a:t>
            </a:r>
          </a:p>
          <a:p>
            <a:pPr lvl="1"/>
            <a:r>
              <a:rPr lang="en-IN" dirty="0"/>
              <a:t>Stack </a:t>
            </a:r>
          </a:p>
          <a:p>
            <a:pPr lvl="1"/>
            <a:r>
              <a:rPr lang="en-IN" dirty="0"/>
              <a:t>Queue </a:t>
            </a:r>
          </a:p>
          <a:p>
            <a:pPr lvl="1"/>
            <a:r>
              <a:rPr lang="en-IN" dirty="0"/>
              <a:t>Deque 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pPr lvl="1"/>
            <a:r>
              <a:rPr lang="en-IN" dirty="0"/>
              <a:t>10 → 20 → 30 → 40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22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F071-BD86-3FBD-2E5D-98A51837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8BC56-FEC5-E93F-9043-F905EFE7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Non-Linear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86515-DD4E-2C98-DB18-B89B471E2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Elements are arranged in </a:t>
            </a:r>
            <a:r>
              <a:rPr lang="en-IN" b="1" dirty="0"/>
              <a:t>hierarchical or network relationships</a:t>
            </a:r>
            <a:r>
              <a:rPr lang="en-IN" dirty="0"/>
              <a:t>.</a:t>
            </a:r>
          </a:p>
          <a:p>
            <a:r>
              <a:rPr lang="en-IN" b="1" dirty="0"/>
              <a:t>Examples:</a:t>
            </a:r>
            <a:endParaRPr lang="en-IN" dirty="0"/>
          </a:p>
          <a:p>
            <a:pPr lvl="1"/>
            <a:r>
              <a:rPr lang="en-IN" dirty="0"/>
              <a:t>Tree </a:t>
            </a:r>
          </a:p>
          <a:p>
            <a:pPr lvl="1"/>
            <a:r>
              <a:rPr lang="en-IN" dirty="0"/>
              <a:t>Graph </a:t>
            </a:r>
          </a:p>
          <a:p>
            <a:pPr lvl="1"/>
            <a:r>
              <a:rPr lang="en-IN" dirty="0"/>
              <a:t>Heap </a:t>
            </a:r>
          </a:p>
          <a:p>
            <a:pPr lvl="1"/>
            <a:r>
              <a:rPr lang="en-IN" dirty="0"/>
              <a:t>Trie 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BFFEC-9701-E300-52EB-4F3003845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15" y="5010835"/>
            <a:ext cx="1054890" cy="126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1B7F-DAEF-E32F-6D30-70B4E3FA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and Dynamic Data Structures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6B9214-4029-7E26-0E36-2134047E9B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339207"/>
              </p:ext>
            </p:extLst>
          </p:nvPr>
        </p:nvGraphicFramePr>
        <p:xfrm>
          <a:off x="838200" y="1690688"/>
          <a:ext cx="8746427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06805">
                  <a:extLst>
                    <a:ext uri="{9D8B030D-6E8A-4147-A177-3AD203B41FA5}">
                      <a16:colId xmlns:a16="http://schemas.microsoft.com/office/drawing/2014/main" val="1456955200"/>
                    </a:ext>
                  </a:extLst>
                </a:gridCol>
                <a:gridCol w="4134422">
                  <a:extLst>
                    <a:ext uri="{9D8B030D-6E8A-4147-A177-3AD203B41FA5}">
                      <a16:colId xmlns:a16="http://schemas.microsoft.com/office/drawing/2014/main" val="39094887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422674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Size is generally 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257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Size can grow or shrink during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Linked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5491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43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C923-58A9-54F0-BBCE-8185EECF9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53D7-00D2-90FC-A2EC-81F3F50A1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Structures</a:t>
            </a:r>
          </a:p>
          <a:p>
            <a:pPr lvl="1"/>
            <a:r>
              <a:rPr lang="en-IN" dirty="0"/>
              <a:t>Primitive</a:t>
            </a:r>
          </a:p>
          <a:p>
            <a:pPr lvl="1"/>
            <a:r>
              <a:rPr lang="en-IN" dirty="0"/>
              <a:t>Non-Primitive</a:t>
            </a:r>
          </a:p>
          <a:p>
            <a:pPr lvl="2"/>
            <a:r>
              <a:rPr lang="en-IN" dirty="0"/>
              <a:t>Linear</a:t>
            </a:r>
          </a:p>
          <a:p>
            <a:pPr lvl="2"/>
            <a:r>
              <a:rPr lang="en-IN" dirty="0"/>
              <a:t>Non-Linear</a:t>
            </a:r>
          </a:p>
          <a:p>
            <a:r>
              <a:rPr lang="en-IN" dirty="0"/>
              <a:t>Remember</a:t>
            </a:r>
          </a:p>
          <a:p>
            <a:pPr lvl="1"/>
            <a:r>
              <a:rPr lang="en-IN" dirty="0"/>
              <a:t>Linear = </a:t>
            </a:r>
            <a:r>
              <a:rPr lang="en-IN"/>
              <a:t>Sequential arrangement</a:t>
            </a:r>
          </a:p>
          <a:p>
            <a:pPr lvl="1"/>
            <a:r>
              <a:rPr lang="en-IN"/>
              <a:t>Non-Linear </a:t>
            </a:r>
            <a:r>
              <a:rPr lang="en-IN" dirty="0"/>
              <a:t>= Hierarchical/Network arrangement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178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135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Classification of Data Structures</vt:lpstr>
      <vt:lpstr>Primitive Data Structures</vt:lpstr>
      <vt:lpstr>Non-Primitive Data Structures</vt:lpstr>
      <vt:lpstr>Linear Data Structures</vt:lpstr>
      <vt:lpstr>Non-Linear Data Structures</vt:lpstr>
      <vt:lpstr>Static and Dynamic Data Structures</vt:lpstr>
      <vt:lpstr>Key 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Divyesh Gohel</dc:creator>
  <cp:lastModifiedBy>Divyesh Gohel</cp:lastModifiedBy>
  <cp:revision>12</cp:revision>
  <dcterms:created xsi:type="dcterms:W3CDTF">2026-09-09T00:23:58Z</dcterms:created>
  <dcterms:modified xsi:type="dcterms:W3CDTF">2026-09-09T00:31:34Z</dcterms:modified>
</cp:coreProperties>
</file>